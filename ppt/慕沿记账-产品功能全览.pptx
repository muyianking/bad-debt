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支出比例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74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E6B5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BB6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DC63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3B82F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38B6E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34B3A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7CC7B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6B7FD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汽车/加油</c:v>
                </c:pt>
                <c:pt idx="1">
                  <c:v>三餐</c:v>
                </c:pt>
                <c:pt idx="2">
                  <c:v>旅行</c:v>
                </c:pt>
                <c:pt idx="3">
                  <c:v>零食</c:v>
                </c:pt>
                <c:pt idx="4">
                  <c:v>宠物</c:v>
                </c:pt>
                <c:pt idx="5">
                  <c:v>衣服</c:v>
                </c:pt>
                <c:pt idx="6">
                  <c:v>娱乐</c:v>
                </c:pt>
                <c:pt idx="7">
                  <c:v>日用品</c:v>
                </c:pt>
                <c:pt idx="8">
                  <c:v>话费网费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28.7</c:v>
                </c:pt>
                <c:pt idx="1">
                  <c:v>21.4</c:v>
                </c:pt>
                <c:pt idx="2">
                  <c:v>20</c:v>
                </c:pt>
                <c:pt idx="3">
                  <c:v>7.8</c:v>
                </c:pt>
                <c:pt idx="4">
                  <c:v>6.2</c:v>
                </c:pt>
                <c:pt idx="5">
                  <c:v>5.1</c:v>
                </c:pt>
                <c:pt idx="6">
                  <c:v>3.5</c:v>
                </c:pt>
                <c:pt idx="7">
                  <c:v>2.8</c:v>
                </c:pt>
                <c:pt idx="8">
                  <c:v>2.7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封面：慕沿记账产品功能全览。主打语：通知监听自动记账 × 全场景手动记账。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功能地图：六个界面 + 一个自动记账内核，先给观众一张全景图。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首页：头图式月度总览、最近7日柱状图、按日分组流水、悬浮记一笔。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记一笔：支出收入双Tab、23个分类图标网格即点即选、支持自定义分类。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输入效率：备注、快捷标签、计算器键盘、再记连续记账、保存一键入账。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日历视图：每日净收支上墙、农历节日、四种显示模式、点日期看明细、月汇总。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收支总览：支出/收入/结余/日均支出四个KPI，月年切换+筛选。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每日统计：整月每日支出柱状图，峰值与空档都可见，支持全屏。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分类占比环形图：汽车加油28.7%、三餐21.4%、旅行20.0%，前三类合计70.1%。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分类排行：图标+占比+环比涨跌+金额+进度条；月年切换、支出收入两视角。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日报表：日期/收入/支出/结余流水表，日均支出220.32，负结余标红。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分类管理：一级/二级分类、长按排序单击修改、添加子类、完全自定义。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内核：通知监听→白名单→正则解析→三层去重→待确认→确认入账；错误拦截在入库前。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总结：记得快、看得清、管得住、会自动；金句收尾致谢。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49440" y="-1645920"/>
            <a:ext cx="6766560" cy="6766560"/>
          </a:xfrm>
          <a:prstGeom prst="ellipse">
            <a:avLst/>
          </a:prstGeom>
          <a:solidFill>
            <a:srgbClr val="DEEBFB"/>
          </a:solidFill>
          <a:ln/>
        </p:spPr>
      </p:sp>
      <p:sp>
        <p:nvSpPr>
          <p:cNvPr id="4" name="Shape 1"/>
          <p:cNvSpPr/>
          <p:nvPr/>
        </p:nvSpPr>
        <p:spPr>
          <a:xfrm>
            <a:off x="8138160" y="4480560"/>
            <a:ext cx="914400" cy="914400"/>
          </a:xfrm>
          <a:prstGeom prst="ellipse">
            <a:avLst/>
          </a:prstGeom>
          <a:solidFill>
            <a:srgbClr val="FDEDED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37160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71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产品功能全览 ·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" y="19202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822960" y="30358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通知监听自动记账 × 全场景手动记账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41248" y="3657600"/>
            <a:ext cx="1005840" cy="64008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886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从记一笔到看全年：23 个支出分类、日历账单、统计报表、两级分类管理，外加一颗通知监听内核——一本装进口袋的完整账本。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 muyian · Android · 2026.10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868680"/>
            <a:ext cx="2612016" cy="5385816"/>
          </a:xfrm>
          <a:prstGeom prst="roundRect">
            <a:avLst>
              <a:gd name="adj" fmla="val 7001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13" name="Image 0" descr="E:\project\muyian\muyian-app\ppt\assets\phon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932688"/>
            <a:ext cx="2484000" cy="525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35240" y="160020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635240" y="1600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自动记账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966960" y="5029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966960" y="5029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个支出分类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· 功能地图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六个界面，装下一本完整账本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1664208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2376" y="1883664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07592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首页总览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0664" y="250545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月度头图 + 7 日趋势 + 按日流水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1664208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17136" y="1883664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14" name="Text 11"/>
          <p:cNvSpPr/>
          <p:nvPr/>
        </p:nvSpPr>
        <p:spPr>
          <a:xfrm>
            <a:off x="451713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02352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记一笔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535424" y="250545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个分类 + 计算器键盘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2440" y="1664208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11896" y="1883664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19" name="Text 16"/>
          <p:cNvSpPr/>
          <p:nvPr/>
        </p:nvSpPr>
        <p:spPr>
          <a:xfrm>
            <a:off x="8311896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97112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日历视图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330184" y="250545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每日收支上墙 + 农历节日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456432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22376" y="3675888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07592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40664" y="429768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KPI + 每日柱状 + 环形图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97680" y="3456432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17136" y="3675888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29" name="Text 26"/>
          <p:cNvSpPr/>
          <p:nvPr/>
        </p:nvSpPr>
        <p:spPr>
          <a:xfrm>
            <a:off x="4517136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102352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日报表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4535424" y="429768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一天一行，收支结余流水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092440" y="3456432"/>
            <a:ext cx="3566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11896" y="3675888"/>
            <a:ext cx="457200" cy="457200"/>
          </a:xfrm>
          <a:prstGeom prst="ellipse">
            <a:avLst/>
          </a:prstGeom>
          <a:solidFill>
            <a:srgbClr val="E9F2FF"/>
          </a:solidFill>
          <a:ln/>
        </p:spPr>
      </p:sp>
      <p:sp>
        <p:nvSpPr>
          <p:cNvPr id="34" name="Text 31"/>
          <p:cNvSpPr/>
          <p:nvPr/>
        </p:nvSpPr>
        <p:spPr>
          <a:xfrm>
            <a:off x="8311896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897112" y="36941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8330184" y="429768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两级分类，长按排序单击改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1B62D6"/>
          </a:solidFill>
          <a:ln/>
          <a:effectLst>
            <a:outerShdw sx="100000" sy="100000" kx="0" ky="0" algn="bl" rotWithShape="0" blurRad="101600" dist="25400" dir="5400000">
              <a:srgbClr val="1B62D6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· 通知监听自动记账</a:t>
            </a:r>
            <a:pPr indent="0" marL="0">
              <a:buNone/>
            </a:pPr>
            <a:r>
              <a:rPr lang="en-US" sz="1200" dirty="0">
                <a:solidFill>
                  <a:srgbClr val="D8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微信 / 支付通知自动解析 → 待确认 → 用户点头才入账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首页总览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App，先看见这个月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3291840" cy="4864608"/>
          </a:xfrm>
          <a:prstGeom prst="roundRect">
            <a:avLst>
              <a:gd name="adj" fmla="val 4444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3712" y="1801368"/>
            <a:ext cx="2210256" cy="4535424"/>
          </a:xfrm>
          <a:prstGeom prst="roundRect">
            <a:avLst>
              <a:gd name="adj" fmla="val 8274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9" name="Image 0" descr="E:\project\muyian\muyian-app\ppt\assets\phon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20" y="1865376"/>
            <a:ext cx="208224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60520" y="1819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1" name="Text 7"/>
          <p:cNvSpPr/>
          <p:nvPr/>
        </p:nvSpPr>
        <p:spPr>
          <a:xfrm>
            <a:off x="4407408" y="173736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头图式月度总览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407408" y="2039112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月支出 5,508.00 / 月收入 0.00 / 本月结余 -5,508.00，第一屏就定调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60520" y="27523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4" name="Text 10"/>
          <p:cNvSpPr/>
          <p:nvPr/>
        </p:nvSpPr>
        <p:spPr>
          <a:xfrm>
            <a:off x="4407408" y="267004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7 日支出柱状图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407408" y="2971800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 1,056.60：周二 368、周日 395 的峰值一眼可见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160520" y="36850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7" name="Text 13"/>
          <p:cNvSpPr/>
          <p:nvPr/>
        </p:nvSpPr>
        <p:spPr>
          <a:xfrm>
            <a:off x="4407408" y="360273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按日分组流水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407408" y="3904488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/ 昨天 / 前天逐日排布，每天右侧汇总「支:¥395.00」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160520" y="461772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0" name="Text 16"/>
          <p:cNvSpPr/>
          <p:nvPr/>
        </p:nvSpPr>
        <p:spPr>
          <a:xfrm>
            <a:off x="4407408" y="4535424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一键记一笔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4407408" y="4837176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右下角悬浮 + 按钮，随时开记，不打断浏览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160520" y="5532120"/>
            <a:ext cx="7543800" cy="603504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/>
        </p:spPr>
      </p:sp>
      <p:sp>
        <p:nvSpPr>
          <p:cNvPr id="23" name="Shape 19"/>
          <p:cNvSpPr/>
          <p:nvPr/>
        </p:nvSpPr>
        <p:spPr>
          <a:xfrm>
            <a:off x="4361688" y="5705856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0" y="553212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账本的第一屏，就该回答「这个月花了多少」。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记一笔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个分类，接住生活的每一笔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8394192" y="1572768"/>
            <a:ext cx="3291840" cy="4864608"/>
          </a:xfrm>
          <a:prstGeom prst="roundRect">
            <a:avLst>
              <a:gd name="adj" fmla="val 4444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34984" y="1801368"/>
            <a:ext cx="2210256" cy="4535424"/>
          </a:xfrm>
          <a:prstGeom prst="roundRect">
            <a:avLst>
              <a:gd name="adj" fmla="val 8274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9" name="Image 0" descr="E:\project\muyian\muyian-app\ppt\assets\phone_re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8992" y="1865376"/>
            <a:ext cx="208224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1819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173736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 / 收入双 Tab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9808" y="2039112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顶部一键切换，同一套交互零学习成本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27523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" y="267004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个支出分类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9808" y="2971800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三餐、零食、交通、旅行、宠物、医疗……从柴米油盐到数码娱乐全覆盖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6850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" y="360273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图标网格即点即选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49808" y="3904488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选中分类高亮放大，减少误触，不用打字就能选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02920" y="461772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4535424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支持自定义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749808" y="4837176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内置分类不够用？随手加一个——比如给订阅服务建个「ai」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02920" y="54864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85800" y="54864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一级支出分类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3090672" y="54864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3273552" y="54864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分类层级可扩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5678424" y="54864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861304" y="548640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  </a:t>
            </a:r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自定义分类上限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记一笔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像发消息一样，3 秒记完一笔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1819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备注随手补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2039112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「点此输入备注…」，给这笔钱留下上下文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6151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快捷标签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49808" y="2916936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/ 报销 / 图片 / 旗标，一趟点完不进二级页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575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349300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计算器键盘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49808" y="379476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− 连算多笔合并，退格即改，不必先算再填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44531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708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再记 / 保存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49808" y="4672584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连续消费不停手，「再记」留页面，「保存」即入账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2920" y="5486400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" y="5486400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输入越短，记账越久。</a:t>
            </a:r>
            <a:endParaRPr lang="en-US" sz="1500" dirty="0"/>
          </a:p>
        </p:txBody>
      </p:sp>
      <p:pic>
        <p:nvPicPr>
          <p:cNvPr id="21" name="Image 0" descr="E:\project\muyian\muyian-app\ppt\assets\crop_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691640"/>
            <a:ext cx="3346704" cy="2706624"/>
          </a:xfrm>
          <a:prstGeom prst="rect">
            <a:avLst/>
          </a:prstGeom>
        </p:spPr>
      </p:pic>
      <p:pic>
        <p:nvPicPr>
          <p:cNvPr id="22" name="Image 1" descr="E:\project\muyian\muyian-app\ppt\assets\crop_catego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1691640"/>
            <a:ext cx="2286000" cy="240487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897880" y="4617720"/>
            <a:ext cx="57881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144768" y="475488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键盘即计算器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金额栏实时显示 0.0；报销、图片、旗标标记随点随加，一笔账一次成型。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日历视图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把整个月的账，摊开在日历上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3291840" cy="4864608"/>
          </a:xfrm>
          <a:prstGeom prst="roundRect">
            <a:avLst>
              <a:gd name="adj" fmla="val 4444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3712" y="1801368"/>
            <a:ext cx="2210256" cy="4535424"/>
          </a:xfrm>
          <a:prstGeom prst="roundRect">
            <a:avLst>
              <a:gd name="adj" fmla="val 8274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9" name="Image 0" descr="E:\project\muyian\muyian-app\ppt\assets\phone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20" y="1865376"/>
            <a:ext cx="208224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60520" y="178308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1" name="Text 7"/>
          <p:cNvSpPr/>
          <p:nvPr/>
        </p:nvSpPr>
        <p:spPr>
          <a:xfrm>
            <a:off x="4407408" y="1700784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每日净收支上墙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407408" y="2002536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号 -1806、18 号 -1142，超支的日子在日历上藏不住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60520" y="26243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4" name="Text 10"/>
          <p:cNvSpPr/>
          <p:nvPr/>
        </p:nvSpPr>
        <p:spPr>
          <a:xfrm>
            <a:off x="4407408" y="254203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农历与节日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407408" y="2843784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廿二、初八、万圣节——记账的同时不忘日子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160520" y="3465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7" name="Text 13"/>
          <p:cNvSpPr/>
          <p:nvPr/>
        </p:nvSpPr>
        <p:spPr>
          <a:xfrm>
            <a:off x="4407408" y="338328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四种显示模式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407408" y="3685032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收&amp;支 / 结余 / 收入 / 支出，想看哪面切哪面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160520" y="430682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0" name="Text 16"/>
          <p:cNvSpPr/>
          <p:nvPr/>
        </p:nvSpPr>
        <p:spPr>
          <a:xfrm>
            <a:off x="4407408" y="422452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点日期看明细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4407408" y="4526280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 10.25，下方直接列出当天三笔共 -395.00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160520" y="51480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3" name="Text 19"/>
          <p:cNvSpPr/>
          <p:nvPr/>
        </p:nvSpPr>
        <p:spPr>
          <a:xfrm>
            <a:off x="4407408" y="506577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月汇总一行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4407408" y="5367528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月收入 0.00 · 月支出 5,508.00 · 月结余 -5,508.00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160520" y="5852160"/>
            <a:ext cx="7543800" cy="548640"/>
          </a:xfrm>
          <a:prstGeom prst="roundRect">
            <a:avLst>
              <a:gd name="adj" fmla="val 15000"/>
            </a:avLst>
          </a:prstGeom>
          <a:solidFill>
            <a:srgbClr val="E9F2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361688" y="599846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0" y="5852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哪天超支，日历比账单更诚实。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统计报表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收支总览：四个数字说完一个月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94360" y="1719072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901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0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5,508.00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22960" y="28712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本月累计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719072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11880" y="1901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11880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9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611880" y="28712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本月累计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1719072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0" y="1901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结余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-5,508.00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6400800" y="28712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− 支出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61120" y="1719072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89720" y="1901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日均支出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22128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220.32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9189720" y="28712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10-25</a:t>
            </a:r>
            <a:endParaRPr lang="en-US" sz="1050" dirty="0"/>
          </a:p>
        </p:txBody>
      </p:sp>
      <p:pic>
        <p:nvPicPr>
          <p:cNvPr id="23" name="Image 0" descr="E:\project\muyian\muyian-app\ppt\assets\crop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950208"/>
            <a:ext cx="4846320" cy="248716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943600" y="41239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5" name="Text 21"/>
          <p:cNvSpPr/>
          <p:nvPr/>
        </p:nvSpPr>
        <p:spPr>
          <a:xfrm>
            <a:off x="6190488" y="4041648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 / 年双粒度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190488" y="4343400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口径随场景切换，报月度看月度，盘全年看全年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943600" y="50200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8" name="Text 24"/>
          <p:cNvSpPr/>
          <p:nvPr/>
        </p:nvSpPr>
        <p:spPr>
          <a:xfrm>
            <a:off x="6190488" y="4937760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筛选器加持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6190488" y="5239512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右上角漏斗，只看想看的那部分账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943600" y="5916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31" name="Text 27"/>
          <p:cNvSpPr/>
          <p:nvPr/>
        </p:nvSpPr>
        <p:spPr>
          <a:xfrm>
            <a:off x="6190488" y="5833872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四数互证</a:t>
            </a:r>
            <a:endParaRPr lang="en-US" sz="1550" dirty="0"/>
          </a:p>
        </p:txBody>
      </p:sp>
      <p:sp>
        <p:nvSpPr>
          <p:cNvPr id="32" name="Text 28"/>
          <p:cNvSpPr/>
          <p:nvPr/>
        </p:nvSpPr>
        <p:spPr>
          <a:xfrm>
            <a:off x="6190488" y="6135624"/>
            <a:ext cx="5513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支出、收入、结余、日均同屏，不做单边报表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统计报表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每日统计：消费的节奏看得见</a:t>
            </a:r>
            <a:endParaRPr lang="en-US" sz="2700" dirty="0"/>
          </a:p>
        </p:txBody>
      </p:sp>
      <p:pic>
        <p:nvPicPr>
          <p:cNvPr id="7" name="Image 0" descr="E:\project\muyian\muyian-app\ppt\assets\crop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263640" cy="46451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69480" y="19110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9" name="Text 5"/>
          <p:cNvSpPr/>
          <p:nvPr/>
        </p:nvSpPr>
        <p:spPr>
          <a:xfrm>
            <a:off x="7516368" y="182880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峰值即事件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516368" y="2130552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10-01 冲上 1.8K，10-18 单日 1,142——大额支出无所遁形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269480" y="30998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2" name="Text 8"/>
          <p:cNvSpPr/>
          <p:nvPr/>
        </p:nvSpPr>
        <p:spPr>
          <a:xfrm>
            <a:off x="7516368" y="30175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空档也是信息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16368" y="3319272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没有柱子的日子，就是没有消费的日子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41970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5" name="Text 11"/>
          <p:cNvSpPr/>
          <p:nvPr/>
        </p:nvSpPr>
        <p:spPr>
          <a:xfrm>
            <a:off x="7516368" y="411480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一键全屏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516368" y="4416552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右上角放大图标，整月节奏铺满看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269480" y="5303520"/>
            <a:ext cx="4434840" cy="603504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/>
        </p:spPr>
      </p:sp>
      <p:sp>
        <p:nvSpPr>
          <p:cNvPr id="18" name="Shape 14"/>
          <p:cNvSpPr/>
          <p:nvPr/>
        </p:nvSpPr>
        <p:spPr>
          <a:xfrm>
            <a:off x="7470648" y="5477256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19" name="Text 15"/>
          <p:cNvSpPr/>
          <p:nvPr/>
        </p:nvSpPr>
        <p:spPr>
          <a:xfrm>
            <a:off x="7680960" y="530352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看见峰值，才能看见习惯。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统计报表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支出都去哪儿了：一张环形图说清</a:t>
            </a:r>
            <a:endParaRPr lang="en-US" sz="2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691640"/>
          <a:ext cx="5029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2286000" y="3611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支出比例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2026-10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61996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数据来自产品演示截图 · 支持手指旋转饼图，小于 2% 不显示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172200" y="1874520"/>
            <a:ext cx="146304" cy="146304"/>
          </a:xfrm>
          <a:prstGeom prst="ellipse">
            <a:avLst/>
          </a:prstGeom>
          <a:solidFill>
            <a:srgbClr val="F5A742"/>
          </a:solidFill>
          <a:ln/>
        </p:spPr>
      </p:sp>
      <p:sp>
        <p:nvSpPr>
          <p:cNvPr id="11" name="Text 7"/>
          <p:cNvSpPr/>
          <p:nvPr/>
        </p:nvSpPr>
        <p:spPr>
          <a:xfrm>
            <a:off x="6446520" y="17830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汽车/加油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63840" y="1883664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13" name="Shape 9"/>
          <p:cNvSpPr/>
          <p:nvPr/>
        </p:nvSpPr>
        <p:spPr>
          <a:xfrm>
            <a:off x="7863840" y="1883664"/>
            <a:ext cx="1749552" cy="128016"/>
          </a:xfrm>
          <a:prstGeom prst="roundRect">
            <a:avLst>
              <a:gd name="adj" fmla="val 42857"/>
            </a:avLst>
          </a:prstGeom>
          <a:solidFill>
            <a:srgbClr val="F5A742"/>
          </a:solidFill>
          <a:ln/>
        </p:spPr>
      </p:sp>
      <p:sp>
        <p:nvSpPr>
          <p:cNvPr id="14" name="Text 10"/>
          <p:cNvSpPr/>
          <p:nvPr/>
        </p:nvSpPr>
        <p:spPr>
          <a:xfrm>
            <a:off x="9784080" y="1783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28.7%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07040" y="1783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1,582.00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2386584"/>
            <a:ext cx="146304" cy="146304"/>
          </a:xfrm>
          <a:prstGeom prst="ellipse">
            <a:avLst/>
          </a:prstGeom>
          <a:solidFill>
            <a:srgbClr val="EE6B5B"/>
          </a:solidFill>
          <a:ln/>
        </p:spPr>
      </p:sp>
      <p:sp>
        <p:nvSpPr>
          <p:cNvPr id="17" name="Text 13"/>
          <p:cNvSpPr/>
          <p:nvPr/>
        </p:nvSpPr>
        <p:spPr>
          <a:xfrm>
            <a:off x="6446520" y="2295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三餐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863840" y="2395728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863840" y="2395728"/>
            <a:ext cx="1304544" cy="128016"/>
          </a:xfrm>
          <a:prstGeom prst="roundRect">
            <a:avLst>
              <a:gd name="adj" fmla="val 42857"/>
            </a:avLst>
          </a:prstGeom>
          <a:solidFill>
            <a:srgbClr val="EE6B5B"/>
          </a:solidFill>
          <a:ln/>
        </p:spPr>
      </p:sp>
      <p:sp>
        <p:nvSpPr>
          <p:cNvPr id="20" name="Text 16"/>
          <p:cNvSpPr/>
          <p:nvPr/>
        </p:nvSpPr>
        <p:spPr>
          <a:xfrm>
            <a:off x="9784080" y="22951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607040" y="22951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1,176.00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2898648"/>
            <a:ext cx="146304" cy="146304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3" name="Text 19"/>
          <p:cNvSpPr/>
          <p:nvPr/>
        </p:nvSpPr>
        <p:spPr>
          <a:xfrm>
            <a:off x="6446520" y="2807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863840" y="2907792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25" name="Shape 21"/>
          <p:cNvSpPr/>
          <p:nvPr/>
        </p:nvSpPr>
        <p:spPr>
          <a:xfrm>
            <a:off x="7863840" y="2907792"/>
            <a:ext cx="1219200" cy="128016"/>
          </a:xfrm>
          <a:prstGeom prst="roundRect">
            <a:avLst>
              <a:gd name="adj" fmla="val 42857"/>
            </a:avLst>
          </a:prstGeom>
          <a:solidFill>
            <a:srgbClr val="2BB673"/>
          </a:solidFill>
          <a:ln/>
        </p:spPr>
      </p:sp>
      <p:sp>
        <p:nvSpPr>
          <p:cNvPr id="26" name="Text 22"/>
          <p:cNvSpPr/>
          <p:nvPr/>
        </p:nvSpPr>
        <p:spPr>
          <a:xfrm>
            <a:off x="9784080" y="2807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20.0%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607040" y="2807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1,100.00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72200" y="3410712"/>
            <a:ext cx="146304" cy="146304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9" name="Text 25"/>
          <p:cNvSpPr/>
          <p:nvPr/>
        </p:nvSpPr>
        <p:spPr>
          <a:xfrm>
            <a:off x="6446520" y="33192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零食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863840" y="3419856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31" name="Shape 27"/>
          <p:cNvSpPr/>
          <p:nvPr/>
        </p:nvSpPr>
        <p:spPr>
          <a:xfrm>
            <a:off x="7863840" y="3419856"/>
            <a:ext cx="475488" cy="128016"/>
          </a:xfrm>
          <a:prstGeom prst="roundRect">
            <a:avLst>
              <a:gd name="adj" fmla="val 42857"/>
            </a:avLst>
          </a:prstGeom>
          <a:solidFill>
            <a:srgbClr val="8DC63F"/>
          </a:solidFill>
          <a:ln/>
        </p:spPr>
      </p:sp>
      <p:sp>
        <p:nvSpPr>
          <p:cNvPr id="32" name="Text 28"/>
          <p:cNvSpPr/>
          <p:nvPr/>
        </p:nvSpPr>
        <p:spPr>
          <a:xfrm>
            <a:off x="9784080" y="33192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7.8%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607040" y="33192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429.00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172200" y="3922776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1"/>
          <p:cNvSpPr/>
          <p:nvPr/>
        </p:nvSpPr>
        <p:spPr>
          <a:xfrm>
            <a:off x="6446520" y="38313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宠物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7863840" y="3931920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37" name="Shape 33"/>
          <p:cNvSpPr/>
          <p:nvPr/>
        </p:nvSpPr>
        <p:spPr>
          <a:xfrm>
            <a:off x="7863840" y="3931920"/>
            <a:ext cx="377952" cy="128016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38" name="Text 34"/>
          <p:cNvSpPr/>
          <p:nvPr/>
        </p:nvSpPr>
        <p:spPr>
          <a:xfrm>
            <a:off x="9784080" y="38313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6.2%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0607040" y="3831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344.00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172200" y="4434840"/>
            <a:ext cx="146304" cy="146304"/>
          </a:xfrm>
          <a:prstGeom prst="ellipse">
            <a:avLst/>
          </a:prstGeom>
          <a:solidFill>
            <a:srgbClr val="C3CDD9"/>
          </a:solidFill>
          <a:ln/>
        </p:spPr>
      </p:sp>
      <p:sp>
        <p:nvSpPr>
          <p:cNvPr id="41" name="Text 37"/>
          <p:cNvSpPr/>
          <p:nvPr/>
        </p:nvSpPr>
        <p:spPr>
          <a:xfrm>
            <a:off x="6446520" y="4343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4 类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7863840" y="4443984"/>
            <a:ext cx="1828800" cy="128016"/>
          </a:xfrm>
          <a:prstGeom prst="roundRect">
            <a:avLst>
              <a:gd name="adj" fmla="val 42857"/>
            </a:avLst>
          </a:prstGeom>
          <a:solidFill>
            <a:srgbClr val="EDF1F7"/>
          </a:solidFill>
          <a:ln/>
        </p:spPr>
      </p:sp>
      <p:sp>
        <p:nvSpPr>
          <p:cNvPr id="43" name="Shape 39"/>
          <p:cNvSpPr/>
          <p:nvPr/>
        </p:nvSpPr>
        <p:spPr>
          <a:xfrm>
            <a:off x="7863840" y="4443984"/>
            <a:ext cx="969264" cy="128016"/>
          </a:xfrm>
          <a:prstGeom prst="roundRect">
            <a:avLst>
              <a:gd name="adj" fmla="val 42857"/>
            </a:avLst>
          </a:prstGeom>
          <a:solidFill>
            <a:srgbClr val="C3CDD9"/>
          </a:solidFill>
          <a:ln/>
        </p:spPr>
      </p:sp>
      <p:sp>
        <p:nvSpPr>
          <p:cNvPr id="44" name="Text 40"/>
          <p:cNvSpPr/>
          <p:nvPr/>
        </p:nvSpPr>
        <p:spPr>
          <a:xfrm>
            <a:off x="9784080" y="4343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15.9%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10607040" y="43434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877.00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6172200" y="50292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E9F2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6428232" y="5175504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前三类合计 70.1%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管住汽车/加油、三餐、旅行，就管住了七成支出。</a:t>
            </a:r>
            <a:endParaRPr lang="en-US" sz="1450" dirty="0"/>
          </a:p>
        </p:txBody>
      </p:sp>
      <p:sp>
        <p:nvSpPr>
          <p:cNvPr id="48" name="Text 44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统计报表 · 分类排行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每个分类，都在和上个月较劲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8394192" y="1572768"/>
            <a:ext cx="3291840" cy="4864608"/>
          </a:xfrm>
          <a:prstGeom prst="roundRect">
            <a:avLst>
              <a:gd name="adj" fmla="val 4444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34984" y="1801368"/>
            <a:ext cx="2210256" cy="4535424"/>
          </a:xfrm>
          <a:prstGeom prst="roundRect">
            <a:avLst>
              <a:gd name="adj" fmla="val 8274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9" name="Image 0" descr="E:\project\muyian\muyian-app\ppt\assets\phone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8992" y="1865376"/>
            <a:ext cx="2082240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18196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173736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一行读完一个分类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49808" y="2039112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 + 占比 + 环比 + 金额，进度条比出体量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27523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" y="267004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涨跌两色分明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49808" y="2971800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汽车/加油 +1,082.00；▼ 日用品 -806.00，红涨绿降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6850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" y="360273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 / 年 × 支出 / 收入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49808" y="3904488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两个维度自由组合，还能叠加筛选条件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02920" y="461772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20" name="Text 16"/>
          <p:cNvSpPr/>
          <p:nvPr/>
        </p:nvSpPr>
        <p:spPr>
          <a:xfrm>
            <a:off x="749808" y="4535424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长榜也清爽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749808" y="4837176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 &lt;2% 自动折叠显示，不给小项添乱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02920" y="5532120"/>
            <a:ext cx="7543800" cy="603504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/>
        </p:spPr>
      </p:sp>
      <p:sp>
        <p:nvSpPr>
          <p:cNvPr id="23" name="Shape 19"/>
          <p:cNvSpPr/>
          <p:nvPr/>
        </p:nvSpPr>
        <p:spPr>
          <a:xfrm>
            <a:off x="704088" y="5705856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553212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环比不是数字游戏，是消费习惯的体温计。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日报表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日报表：一天一行，笔笔对得上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537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554480"/>
                <a:gridCol w="164592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2D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395.00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-395.00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-47.00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121.00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-121.00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-88.00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368.00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-368.00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-37.60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D6B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B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1,142.00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-1,142.00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806440"/>
            <a:ext cx="6537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……更长流水上下滑动查看 · 结余为负自动标红 · 数据来自产品演示截图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498080" y="17373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754112" y="173736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日均支出  </a:t>
            </a:r>
            <a:pPr indent="0" marL="0">
              <a:buNone/>
            </a:pPr>
            <a:r>
              <a:rPr lang="en-US" sz="26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220.32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498080" y="3236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2" name="Text 8"/>
          <p:cNvSpPr/>
          <p:nvPr/>
        </p:nvSpPr>
        <p:spPr>
          <a:xfrm>
            <a:off x="7744968" y="31546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三列并排核账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744968" y="3456432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/ 支出 / 结余同表，当天对账零回忆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498080" y="41513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5" name="Text 11"/>
          <p:cNvSpPr/>
          <p:nvPr/>
        </p:nvSpPr>
        <p:spPr>
          <a:xfrm>
            <a:off x="7744968" y="40690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月份左右切换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744968" y="4370832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翻月就是翻账本，历史月份随时回看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498080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8" name="Text 14"/>
          <p:cNvSpPr/>
          <p:nvPr/>
        </p:nvSpPr>
        <p:spPr>
          <a:xfrm>
            <a:off x="7744968" y="49834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负结余标红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744968" y="5285232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风险日自己浮出来，不用逐行找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498080" y="5806440"/>
            <a:ext cx="4206240" cy="548640"/>
          </a:xfrm>
          <a:prstGeom prst="roundRect">
            <a:avLst>
              <a:gd name="adj" fmla="val 15000"/>
            </a:avLst>
          </a:prstGeom>
          <a:solidFill>
            <a:srgbClr val="E9F2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699248" y="5952744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22" name="Text 18"/>
          <p:cNvSpPr/>
          <p:nvPr/>
        </p:nvSpPr>
        <p:spPr>
          <a:xfrm>
            <a:off x="7909560" y="58064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对账的最好状态，是不需要回忆。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分类管理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分类不是写死的，是长出来的</a:t>
            </a:r>
            <a:endParaRPr lang="en-US" sz="2700" dirty="0"/>
          </a:p>
        </p:txBody>
      </p:sp>
      <p:pic>
        <p:nvPicPr>
          <p:cNvPr id="7" name="Image 0" descr="E:\project\muyian\muyian-app\ppt\assets\crop_sub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577840" cy="23225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1696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零食 → 水果 / 奶茶：两级分类现场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4700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0" name="Text 6"/>
          <p:cNvSpPr/>
          <p:nvPr/>
        </p:nvSpPr>
        <p:spPr>
          <a:xfrm>
            <a:off x="749808" y="461772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两级结构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49808" y="4919472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一级管大类，二级管细节，账本更干净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5522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E80FF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544068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排序与修改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49808" y="5742432"/>
            <a:ext cx="5330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长按一级或二级分类排序，单击即可改名换图标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6263640"/>
            <a:ext cx="64008" cy="219456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16" name="Text 12"/>
          <p:cNvSpPr/>
          <p:nvPr/>
        </p:nvSpPr>
        <p:spPr>
          <a:xfrm>
            <a:off x="704088" y="62179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账本的结构，应该长成你的样子。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92440" y="1572768"/>
            <a:ext cx="3291840" cy="4864608"/>
          </a:xfrm>
          <a:prstGeom prst="roundRect">
            <a:avLst>
              <a:gd name="adj" fmla="val 4444"/>
            </a:avLst>
          </a:prstGeom>
          <a:solidFill>
            <a:srgbClr val="EAF1FA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33232" y="1801368"/>
            <a:ext cx="2210256" cy="4535424"/>
          </a:xfrm>
          <a:prstGeom prst="roundRect">
            <a:avLst>
              <a:gd name="adj" fmla="val 8274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52400" dist="50800" dir="5400000">
              <a:srgbClr val="16223A">
                <a:alpha val="30000"/>
              </a:srgbClr>
            </a:outerShdw>
          </a:effectLst>
        </p:spPr>
      </p:sp>
      <p:pic>
        <p:nvPicPr>
          <p:cNvPr id="19" name="Image 1" descr="E:\project\muyian\muyian-app\ppt\assets\phone_c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240" y="1865376"/>
            <a:ext cx="2082240" cy="44074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62179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「+ 添加子类」随手扩充，完全自定义（比如建一个「ai」）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1E80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87552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 · 自动记账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87552" y="6035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手动记账之外，还有一张自动的网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87552" y="12070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慕沿的差异点：Android 通知监听自动记账（来自产品设计文档）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系统通知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8952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· 支付渠道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44852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542032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15184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白名单过滤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615184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只听候选 App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01084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98264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71416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正则解析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471416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 · 收支方向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57316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54496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27648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三层去重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327648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通知·草稿·账单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13548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110728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183880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待确认通知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183880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先弹通知不入库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669780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966960" y="196596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B62D6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040112" y="21488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确认入账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0040112" y="2532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一点入账可编辑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3794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32104" y="4005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错误拦截在入库前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832104" y="4370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解析成功不自动入账，先弹「待确认」；看一眼再点头，错了直接丢弃。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334256" y="3794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572000" y="4005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三层去重防重复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4572000" y="4370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通知级 / 草稿级 / 账单级三道闸，微信服务通知反复推送也不怕。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074152" y="3794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8311896" y="4005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端侧解析零上传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8311896" y="4370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正则解析全部在本地完成，账单数据不出手机，隐私先守住。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94360" y="5623560"/>
            <a:ext cx="11036808" cy="603504"/>
          </a:xfrm>
          <a:prstGeom prst="roundRect">
            <a:avLst>
              <a:gd name="adj" fmla="val 13636"/>
            </a:avLst>
          </a:prstGeom>
          <a:solidFill>
            <a:srgbClr val="E9F2FF"/>
          </a:solidFill>
          <a:ln/>
        </p:spPr>
      </p:sp>
      <p:sp>
        <p:nvSpPr>
          <p:cNvPr id="41" name="Shape 38"/>
          <p:cNvSpPr/>
          <p:nvPr/>
        </p:nvSpPr>
        <p:spPr>
          <a:xfrm>
            <a:off x="795528" y="5797296"/>
            <a:ext cx="64008" cy="256032"/>
          </a:xfrm>
          <a:prstGeom prst="roundRect">
            <a:avLst>
              <a:gd name="adj" fmla="val 42857"/>
            </a:avLst>
          </a:prstGeom>
          <a:solidFill>
            <a:srgbClr val="1E80FF"/>
          </a:solidFill>
          <a:ln/>
        </p:spPr>
      </p:sp>
      <p:sp>
        <p:nvSpPr>
          <p:cNvPr id="42" name="Text 39"/>
          <p:cNvSpPr/>
          <p:nvPr/>
        </p:nvSpPr>
        <p:spPr>
          <a:xfrm>
            <a:off x="1005840" y="5623560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自动的是采集，人工的是确认——错误在入库之前就被拦下。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502920" y="6528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慕沿记账 · 产品功能全览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607040" y="65288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2011680" y="3566160"/>
            <a:ext cx="5852160" cy="5852160"/>
          </a:xfrm>
          <a:prstGeom prst="ellipse">
            <a:avLst/>
          </a:prstGeom>
          <a:solidFill>
            <a:srgbClr val="DEEBFB"/>
          </a:solidFill>
          <a:ln/>
        </p:spPr>
      </p:sp>
      <p:sp>
        <p:nvSpPr>
          <p:cNvPr id="4" name="Shape 1"/>
          <p:cNvSpPr/>
          <p:nvPr/>
        </p:nvSpPr>
        <p:spPr>
          <a:xfrm>
            <a:off x="9966960" y="-2194560"/>
            <a:ext cx="4937760" cy="4937760"/>
          </a:xfrm>
          <a:prstGeom prst="ellipse">
            <a:avLst/>
          </a:prstGeom>
          <a:solidFill>
            <a:srgbClr val="DEEBFB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96696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记得快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6696" y="1819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秒记完一笔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2044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39896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739896" y="1819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 · 统计 · 日报表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83096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管得住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83096" y="1819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两级分类 + 环比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06840" y="1234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7405E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226296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会自动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226296" y="18196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通知监听内核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69848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 把复杂留给自己，把简单交给用户。”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069848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慕沿记账的设计纲领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69848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6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 谢 观 看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1069848" y="5623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慕沿 muyian · 产品功能全览 · 2026.10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慕沿记账 · 产品功能全览</dc:title>
  <dc:subject>PptxGenJS Presentation</dc:subject>
  <dc:creator>慕沿记账</dc:creator>
  <cp:lastModifiedBy>慕沿记账</cp:lastModifiedBy>
  <cp:revision>1</cp:revision>
  <dcterms:created xsi:type="dcterms:W3CDTF">2026-10-25T15:48:11Z</dcterms:created>
  <dcterms:modified xsi:type="dcterms:W3CDTF">2026-10-25T15:48:11Z</dcterms:modified>
</cp:coreProperties>
</file>